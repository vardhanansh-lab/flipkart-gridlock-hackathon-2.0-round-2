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C1F17"/>
          </a:solidFill>
          <a:ln w="12700">
            <a:solidFill>
              <a:srgbClr val="144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GRIDLOCK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Illegal-Parking Enforcement Intelligence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4069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where illegal parking will choke Bengaluru's traffic tomorrow,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hotspot by its impact on flow, and hand police a patrol plan — not a heatmap.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5532120"/>
            <a:ext cx="10881360" cy="0"/>
          </a:xfrm>
          <a:prstGeom prst="line">
            <a:avLst/>
          </a:prstGeom>
          <a:noFill/>
          <a:ln w="12700">
            <a:solidFill>
              <a:srgbClr val="23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669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Hackathon · Round 2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 Legends — Ansh Vardhan &amp; Bhavya Tiwari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today is reactive and blind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1A1D2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751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patrols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respond to congestion only after it forms. No early warning, no foresight.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28416"/>
            <a:ext cx="457200" cy="457200"/>
          </a:xfrm>
          <a:prstGeom prst="ellipse">
            <a:avLst/>
          </a:prstGeom>
          <a:solidFill>
            <a:srgbClr val="1A1D2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28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1821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impact visibility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584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which parking zones actually damage traffic flow versus which are harmless.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535424"/>
            <a:ext cx="457200" cy="457200"/>
          </a:xfrm>
          <a:prstGeom prst="ellipse">
            <a:avLst/>
          </a:prstGeom>
          <a:solidFill>
            <a:srgbClr val="1A1D2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prioritise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7914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zones, finite patrols — and no ranking to decide where to send them first.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0E1418"/>
          </a:solidFill>
          <a:ln w="12700">
            <a:solidFill>
              <a:srgbClr val="1A2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 </a:t>
            </a:r>
            <a:pPr indent="0" marL="0">
              <a:buNone/>
            </a:pPr>
            <a:r>
              <a:rPr lang="en-US" sz="1400" i="1" dirty="0">
                <a:solidFill>
                  <a:srgbClr val="9AA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illegal-parking hotspots AND quantify their impact on traffic flow to enable targeted enforcement.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Violations aren't spread out — they pile up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61.7%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violations occur in just 5% of the city's cells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75120" y="1874520"/>
            <a:ext cx="4846320" cy="3749040"/>
          </a:xfrm>
          <a:prstGeom prst="roundRect">
            <a:avLst>
              <a:gd name="adj" fmla="val 1707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103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changes everything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7432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are real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2971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 noise — a few places drive most of the problem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370332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concentrated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enforcement should be targeted, not spread thin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46634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572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predictable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4892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model shows, a day in advance — the rest of this deck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298,000 real Bengaluru violation records · Jan–May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Our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layers: predict, weigh, deploy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3383280"/>
          </a:xfrm>
          <a:prstGeom prst="roundRect">
            <a:avLst>
              <a:gd name="adj" fmla="val 1892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LightGBM spatio-temporal model predicts each cell's hotspot probability one day ahead.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538728" cy="3383280"/>
          </a:xfrm>
          <a:prstGeom prst="roundRect">
            <a:avLst>
              <a:gd name="adj" fmla="val 1892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14884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36008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layer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36008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hotspot is weighted by road criticality — throughput and freight share — into a priority score.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91856" y="1828800"/>
            <a:ext cx="3538728" cy="3383280"/>
          </a:xfrm>
          <a:prstGeom prst="roundRect">
            <a:avLst>
              <a:gd name="adj" fmla="val 1892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1896" y="2148840"/>
            <a:ext cx="777240" cy="7772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11896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11896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Streamlit map plus a ranked patrol-deployment queue an officer acts on each morning.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3337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7180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90688" y="3337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718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0E1B16"/>
          </a:solidFill>
          <a:ln w="12700">
            <a:solidFill>
              <a:srgbClr val="144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 </a:t>
            </a:r>
            <a:pPr algn="ctr" indent="0" marL="0"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  →   </a:t>
            </a:r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 </a:t>
            </a:r>
            <a:pPr algn="ctr" indent="0" marL="0"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hurts most   →   </a:t>
            </a:r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 </a:t>
            </a:r>
            <a:pPr algn="ctr" indent="0" marL="0"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How the forecaster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points to a next-day prediction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the city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3127248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violation maps to a ~1.2 km geohash cell. 802 cells across 151 days.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45536" y="2834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71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signals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history, rolling volatility, trend, and each cell's day-of-week rhythm.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07024" y="2834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71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19088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19088" y="3127248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outputs each cell's hotspot probability for the next day.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2834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718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24544" y="182880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0576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180576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impact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80576" y="3127248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road criticality → a deployable priority queue.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0E1B16"/>
          </a:solidFill>
          <a:ln w="12700">
            <a:solidFill>
              <a:srgbClr val="144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leans on most: each cell × day-of-week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parking follows a weekly rhythm tied to place — one cell floods every Saturday, another every weekday rush hour. The model's core job is learning each location's schedule, which is why it generalises to days it has never seen.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— and honestly measured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tomorrow's hotspots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201168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±0.018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01568" y="283464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15468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time-folds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7830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201168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63056" y="283464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63056" y="315468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of top-20 correct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24544" y="17830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4544" y="201168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24544" y="283464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4544" y="315468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Bengaluru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303520" cy="2194560"/>
          </a:xfrm>
          <a:prstGeom prst="roundRect">
            <a:avLst>
              <a:gd name="adj" fmla="val 2917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rolling time-series cross-validation: always train on the past, test on the future, slide forward, repeat. No random split — that would let the model peek at tomorrow. The near-flat score across folds is the proof it's real.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303520" cy="2194560"/>
          </a:xfrm>
          <a:prstGeom prst="roundRect">
            <a:avLst>
              <a:gd name="adj" fmla="val 2917"/>
            </a:avLst>
          </a:prstGeom>
          <a:solidFill>
            <a:srgbClr val="1A1408"/>
          </a:solidFill>
          <a:ln w="12700">
            <a:solidFill>
              <a:srgbClr val="3A2A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99%?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5720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predicts human behaviour from noisy real data — some parking is genuinely random. A defensible 0.945 beats a suspicious 0.99 that signals a leaky split. (mAP is a detection metric; for forecasting we report the equivalent ranking metric, Precision@K.)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Fold-by-fold scores and what drives them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206240"/>
          </a:xfrm>
          <a:prstGeom prst="roundRect">
            <a:avLst>
              <a:gd name="adj" fmla="val 1522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7452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P@20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7452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6908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87452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0604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6908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3218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87452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0604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3756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6908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3941064"/>
            <a:ext cx="4754880" cy="0"/>
          </a:xfrm>
          <a:prstGeom prst="line">
            <a:avLst/>
          </a:prstGeom>
          <a:noFill/>
          <a:ln w="12700">
            <a:solidFill>
              <a:srgbClr val="232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87452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60604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3756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06908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46320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 moves by 0.012 across folds — extremely stable.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1828800"/>
            <a:ext cx="5303520" cy="1965960"/>
          </a:xfrm>
          <a:prstGeom prst="roundRect">
            <a:avLst>
              <a:gd name="adj" fmla="val 3256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(pooled)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28,135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4922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hot 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22960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922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886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2296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023360"/>
            <a:ext cx="5303520" cy="2011680"/>
          </a:xfrm>
          <a:prstGeom prst="roundRect">
            <a:avLst>
              <a:gd name="adj" fmla="val 3182"/>
            </a:avLst>
          </a:prstGeom>
          <a:solidFill>
            <a:srgbClr val="0E1B16"/>
          </a:solidFill>
          <a:ln w="12700">
            <a:solidFill>
              <a:srgbClr val="1440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9224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× day-of-week average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9224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clear margin over every other signal — confirming the weekly-rhythm story. Followed by each cell's rolling average and volatility.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Quantifying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hotspots hurt traffic equally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0E1015"/>
          </a:solidFill>
          <a:ln w="12700">
            <a:solidFill>
              <a:srgbClr val="3A2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Priority  =  </a:t>
            </a:r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probability</a:t>
            </a:r>
            <a:pPr algn="ctr" indent="0" marL="0">
              <a:buNone/>
            </a:pPr>
            <a:r>
              <a:rPr lang="en-US" sz="2200" dirty="0">
                <a:solidFill>
                  <a:srgbClr val="9AA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criticality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criticality = traffic throughput + heavy/freight-vehicle share, normalised per cell.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303520" cy="2697480"/>
          </a:xfrm>
          <a:prstGeom prst="roundRect">
            <a:avLst>
              <a:gd name="adj" fmla="val 2373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heatmap misses this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freight corridor with 500 violations can outrank a residential lane with 1,500 — because a blocked arterial does far more damage to traffic flow than a quiet side street.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520440"/>
            <a:ext cx="5303520" cy="2697480"/>
          </a:xfrm>
          <a:prstGeom prst="roundRect">
            <a:avLst>
              <a:gd name="adj" fmla="val 2373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cells (tomorrow)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tdr1v6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· peak 9am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07040" y="4160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tdr5p8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· 99% heavy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0704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tdr1y5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· peak 10am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607040" y="5166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5669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tdr4zx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· 98% heavy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607040" y="5669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The deployable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officer opens each morning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hotspot map · Bengaluru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749040"/>
            <a:ext cx="548640" cy="548640"/>
          </a:xfrm>
          <a:prstGeom prst="ellipse">
            <a:avLst/>
          </a:prstGeom>
          <a:solidFill>
            <a:srgbClr val="F87171">
              <a:alpha val="7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3108960"/>
            <a:ext cx="411480" cy="411480"/>
          </a:xfrm>
          <a:prstGeom prst="ellipse">
            <a:avLst/>
          </a:prstGeom>
          <a:solidFill>
            <a:srgbClr val="F87171">
              <a:alpha val="7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4297680"/>
            <a:ext cx="365760" cy="365760"/>
          </a:xfrm>
          <a:prstGeom prst="ellipse">
            <a:avLst/>
          </a:prstGeom>
          <a:solidFill>
            <a:srgbClr val="FBBF24">
              <a:alpha val="7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4754880"/>
            <a:ext cx="292608" cy="292608"/>
          </a:xfrm>
          <a:prstGeom prst="ellipse">
            <a:avLst/>
          </a:prstGeom>
          <a:solidFill>
            <a:srgbClr val="FBBF24">
              <a:alpha val="7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383280"/>
            <a:ext cx="274320" cy="274320"/>
          </a:xfrm>
          <a:prstGeom prst="ellipse">
            <a:avLst/>
          </a:prstGeom>
          <a:solidFill>
            <a:srgbClr val="FBBF24">
              <a:alpha val="7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5029200"/>
            <a:ext cx="219456" cy="219456"/>
          </a:xfrm>
          <a:prstGeom prst="ellipse">
            <a:avLst/>
          </a:prstGeom>
          <a:solidFill>
            <a:srgbClr val="60A5FA">
              <a:alpha val="7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017520"/>
            <a:ext cx="201168" cy="201168"/>
          </a:xfrm>
          <a:prstGeom prst="ellipse">
            <a:avLst/>
          </a:prstGeom>
          <a:solidFill>
            <a:srgbClr val="60A5FA">
              <a:alpha val="7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2743200"/>
            <a:ext cx="182880" cy="182880"/>
          </a:xfrm>
          <a:prstGeom prst="ellipse">
            <a:avLst/>
          </a:prstGeom>
          <a:solidFill>
            <a:srgbClr val="60A5FA">
              <a:alpha val="7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86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priority intensity · hover for cell detail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0E1015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deployment queue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2514600"/>
            <a:ext cx="4937760" cy="585216"/>
          </a:xfrm>
          <a:prstGeom prst="roundRect">
            <a:avLst>
              <a:gd name="adj" fmla="val 6250"/>
            </a:avLst>
          </a:prstGeom>
          <a:solidFill>
            <a:srgbClr val="12141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tdr1v6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28437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9:00 · 25.7k history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0" y="2606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355080" y="3172968"/>
            <a:ext cx="4937760" cy="585216"/>
          </a:xfrm>
          <a:prstGeom prst="roundRect">
            <a:avLst>
              <a:gd name="adj" fmla="val 6250"/>
            </a:avLst>
          </a:prstGeom>
          <a:solidFill>
            <a:srgbClr val="12141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tdr5p8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35021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4:00 · FREIGHT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0" y="32644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355080" y="3831336"/>
            <a:ext cx="4937760" cy="585216"/>
          </a:xfrm>
          <a:prstGeom prst="roundRect">
            <a:avLst>
              <a:gd name="adj" fmla="val 6250"/>
            </a:avLst>
          </a:prstGeom>
          <a:solidFill>
            <a:srgbClr val="12141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895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tdr1y5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4160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10:00 · 14.4k history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15600" y="392277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355080" y="4489704"/>
            <a:ext cx="4937760" cy="585216"/>
          </a:xfrm>
          <a:prstGeom prst="roundRect">
            <a:avLst>
              <a:gd name="adj" fmla="val 6250"/>
            </a:avLst>
          </a:prstGeom>
          <a:solidFill>
            <a:srgbClr val="12141B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553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tdr1v2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92240" y="48188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10:00 · 14.3k history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515600" y="458114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355080" y="5148072"/>
            <a:ext cx="4937760" cy="585216"/>
          </a:xfrm>
          <a:prstGeom prst="roundRect">
            <a:avLst>
              <a:gd name="adj" fmla="val 6250"/>
            </a:avLst>
          </a:prstGeom>
          <a:solidFill>
            <a:srgbClr val="12141B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tdr4hb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92240" y="54772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10:00 · 7.5k history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15600" y="52395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· capacity slider · impact-vs-probability toggle · freight flags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Why it works for Bengaluru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Deployable, complete, and honest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57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today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existing violation data — no new cameras, sensors, or hardware to install.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148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057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full brief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hotspots AND quantifies traffic impact. Most stop at a heatmap; we don't.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206240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&amp; defensible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cross-validated. Every number survives a judge's follow-up question.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6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0624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OSM road class, live event feeds, or weather with zero rework.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C1F17"/>
          </a:solidFill>
          <a:ln w="12700">
            <a:solidFill>
              <a:srgbClr val="144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FROM REACTIVE TO PREDICTIVE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21031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Patrols by data,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by guesswork.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 predicts where illegal parking will choke traffic tomorrow, ranks each hotspot by its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flow, and turns it into a patrol plan Bengaluru's police can act on every morning.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5486400"/>
            <a:ext cx="10881360" cy="0"/>
          </a:xfrm>
          <a:prstGeom prst="line">
            <a:avLst/>
          </a:prstGeom>
          <a:noFill/>
          <a:ln w="12700">
            <a:solidFill>
              <a:srgbClr val="23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0.945  ·  298K records  ·  3-fold validated  ·  live dashboard
</a:t>
            </a:r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 Legends — Ansh Vardhan &amp; Bhavya Tiwari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GRIDLOCK</dc:title>
  <dc:subject>PptxGenJS Presentation</dc:subject>
  <dc:creator>Last Mile Legends</dc:creator>
  <cp:lastModifiedBy>Last Mile Legends</cp:lastModifiedBy>
  <cp:revision>1</cp:revision>
  <dcterms:created xsi:type="dcterms:W3CDTF">2026-06-20T12:33:49Z</dcterms:created>
  <dcterms:modified xsi:type="dcterms:W3CDTF">2026-06-20T12:33:49Z</dcterms:modified>
</cp:coreProperties>
</file>